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1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560320" cy="2560320"/>
          </a:xfrm>
          <a:prstGeom prst="ellipse">
            <a:avLst/>
          </a:prstGeom>
          <a:solidFill>
            <a:srgbClr val="2A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A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微软雅黑"/>
              </a:rPr>
              <a:t>数智心伴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8EFF"/>
                </a:solidFill>
                <a:latin typeface="微软雅黑"/>
              </a:rPr>
              <a:t>多模态大模型驱动的AI数字人情感陪护系统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566160"/>
            <a:ext cx="5486400" cy="36576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4E8"/>
                </a:solidFill>
                <a:latin typeface="微软雅黑"/>
              </a:rPr>
              <a:t>中国大学生服务外包创新创业大赛  |  企业命题类（A类）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51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团队编号：___  |  团队名称：___  |  江苏大学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9BB"/>
                </a:solidFill>
                <a:latin typeface="微软雅黑"/>
              </a:rPr>
              <a:t>2026年4月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0292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9B5CFF"/>
                </a:solidFill>
                <a:latin typeface="微软雅黑"/>
              </a:rPr>
              <a:t>AI · 数字人 · 情感陪护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1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560320" cy="2560320"/>
          </a:xfrm>
          <a:prstGeom prst="ellipse">
            <a:avLst/>
          </a:prstGeom>
          <a:solidFill>
            <a:srgbClr val="2A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54864" cy="676656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目  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8EFF"/>
                </a:solidFill>
                <a:latin typeface="微软雅黑"/>
              </a:rPr>
              <a:t>CONTENTS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5394960" cy="77724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258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B5CFF"/>
                </a:solidFill>
                <a:latin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3990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软雅黑"/>
              </a:rPr>
              <a:t>背景与痛点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34440"/>
            <a:ext cx="5394960" cy="77724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3258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B5C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3990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软雅黑"/>
              </a:rPr>
              <a:t>项目定位与目标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94560"/>
            <a:ext cx="5394960" cy="77724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860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B5CFF"/>
                </a:solidFill>
                <a:latin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359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软雅黑"/>
              </a:rPr>
              <a:t>系统总体架构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194560"/>
            <a:ext cx="5394960" cy="77724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22860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B5CFF"/>
                </a:solidFill>
                <a:latin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3591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软雅黑"/>
              </a:rPr>
              <a:t>核心技术方案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54680"/>
            <a:ext cx="5394960" cy="77724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2461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B5CFF"/>
                </a:solidFill>
                <a:latin typeface="微软雅黑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3192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软雅黑"/>
              </a:rPr>
              <a:t>功能演示与系统亮点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154680"/>
            <a:ext cx="5394960" cy="77724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2461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B5CFF"/>
                </a:solidFill>
                <a:latin typeface="微软雅黑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3192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软雅黑"/>
              </a:rPr>
              <a:t>技术指标达成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114800"/>
            <a:ext cx="5394960" cy="77724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2062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B5CFF"/>
                </a:solidFill>
                <a:latin typeface="微软雅黑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2793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软雅黑"/>
              </a:rPr>
              <a:t>应用场景与商业价值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114800"/>
            <a:ext cx="5394960" cy="77724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42062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B5CFF"/>
                </a:solidFill>
                <a:latin typeface="微软雅黑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2793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软雅黑"/>
              </a:rPr>
              <a:t>团队介绍与分工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074920"/>
            <a:ext cx="5394960" cy="77724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1663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B5CFF"/>
                </a:solidFill>
                <a:latin typeface="微软雅黑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2395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软雅黑"/>
              </a:rPr>
              <a:t>可行性分析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074920"/>
            <a:ext cx="5394960" cy="77724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51663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B5CFF"/>
                </a:solidFill>
                <a:latin typeface="微软雅黑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52395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微软雅黑"/>
              </a:rP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1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560320" cy="2560320"/>
          </a:xfrm>
          <a:prstGeom prst="ellipse">
            <a:avLst/>
          </a:prstGeom>
          <a:solidFill>
            <a:srgbClr val="2A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54864" cy="676656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背景与痛点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8EFF"/>
                </a:solidFill>
                <a:latin typeface="微软雅黑"/>
              </a:rPr>
              <a:t>BACKGROUND &amp; PAIN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3566160" cy="1417320"/>
          </a:xfrm>
          <a:prstGeom prst="rect">
            <a:avLst/>
          </a:prstGeom>
          <a:solidFill>
            <a:srgbClr val="121E42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D76E"/>
                </a:solidFill>
                <a:latin typeface="微软雅黑"/>
              </a:rPr>
              <a:t>3亿+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4E8"/>
                </a:solidFill>
                <a:latin typeface="微软雅黑"/>
              </a:rPr>
              <a:t>60岁以上老年人口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3566160" cy="1417320"/>
          </a:xfrm>
          <a:prstGeom prst="rect">
            <a:avLst/>
          </a:prstGeom>
          <a:solidFill>
            <a:srgbClr val="121E42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2344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D76E"/>
                </a:solidFill>
                <a:latin typeface="微软雅黑"/>
              </a:rPr>
              <a:t>50%+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4E8"/>
                </a:solidFill>
                <a:latin typeface="微软雅黑"/>
              </a:rPr>
              <a:t>空巢独居老人占比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43000"/>
            <a:ext cx="3566160" cy="1417320"/>
          </a:xfrm>
          <a:prstGeom prst="rect">
            <a:avLst/>
          </a:prstGeom>
          <a:solidFill>
            <a:srgbClr val="121E42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2344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D76E"/>
                </a:solidFill>
                <a:latin typeface="微软雅黑"/>
              </a:rPr>
              <a:t>98.3%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4E8"/>
                </a:solidFill>
                <a:latin typeface="微软雅黑"/>
              </a:rPr>
              <a:t>失能老人有持续情感支持需求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97480"/>
            <a:ext cx="11247120" cy="105156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697480"/>
            <a:ext cx="54864" cy="1051560"/>
          </a:xfrm>
          <a:prstGeom prst="rect">
            <a:avLst/>
          </a:prstGeom>
          <a:solidFill>
            <a:srgbClr val="3A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7706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😔 情感陪伴严重缺失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729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空巢、独居老人长期精神孤独，家庭陪护因代际分离日趋弱化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11247120" cy="105156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886200"/>
            <a:ext cx="54864" cy="1051560"/>
          </a:xfrm>
          <a:prstGeom prst="rect">
            <a:avLst/>
          </a:prstGeom>
          <a:solidFill>
            <a:srgbClr val="3A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593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🏥 专业资源极度稀缺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36168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心理咨询师严重供需失衡，专业疏导服务难以普及到普通家庭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74920"/>
            <a:ext cx="11247120" cy="105156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074920"/>
            <a:ext cx="54864" cy="1051560"/>
          </a:xfrm>
          <a:prstGeom prst="rect">
            <a:avLst/>
          </a:prstGeom>
          <a:solidFill>
            <a:srgbClr val="3A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1480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🤖 现有AI产品缺温度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55040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市场问答机器人缺乏情感深度，无法真正理解和回应情绪需求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1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560320" cy="2560320"/>
          </a:xfrm>
          <a:prstGeom prst="ellipse">
            <a:avLst/>
          </a:prstGeom>
          <a:solidFill>
            <a:srgbClr val="2A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54864" cy="676656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项目定位与目标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8EFF"/>
                </a:solidFill>
                <a:latin typeface="微软雅黑"/>
              </a:rPr>
              <a:t>POSITIONING &amp;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76E"/>
                </a:solidFill>
                <a:latin typeface="微软雅黑"/>
              </a:rPr>
              <a:t>💡  愿景：让每一位老人都有一个懂自己的数字伙伴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3383280" cy="228600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3383280" cy="109728"/>
          </a:xfrm>
          <a:prstGeom prst="rect">
            <a:avLst/>
          </a:prstGeom>
          <a:solidFill>
            <a:srgbClr val="3A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A8EFF"/>
                </a:solidFill>
                <a:latin typeface="微软雅黑"/>
              </a:rPr>
              <a:t>可陪伴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974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4E8"/>
                </a:solidFill>
                <a:latin typeface="微软雅黑"/>
              </a:rPr>
              <a:t>7×24小时不间断
有温度的情感交流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3383280" cy="2286000"/>
          </a:xfrm>
          <a:prstGeom prst="rect">
            <a:avLst/>
          </a:prstGeom>
          <a:solidFill>
            <a:srgbClr val="121E42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74519"/>
            <a:ext cx="3383280" cy="109728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0574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9B5CFF"/>
                </a:solidFill>
                <a:latin typeface="微软雅黑"/>
              </a:rPr>
              <a:t>可引导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974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4E8"/>
                </a:solidFill>
                <a:latin typeface="微软雅黑"/>
              </a:rPr>
              <a:t>基于心理学知识库
专业疏导焦虑抑郁情绪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1874519"/>
            <a:ext cx="3383280" cy="2286000"/>
          </a:xfrm>
          <a:prstGeom prst="rect">
            <a:avLst/>
          </a:prstGeom>
          <a:solidFill>
            <a:srgbClr val="121E42"/>
          </a:solidFill>
          <a:ln w="12700">
            <a:solidFill>
              <a:srgbClr val="3DE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59" y="1874519"/>
            <a:ext cx="3383280" cy="109728"/>
          </a:xfrm>
          <a:prstGeom prst="rect">
            <a:avLst/>
          </a:prstGeom>
          <a:solidFill>
            <a:srgbClr val="3DE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20574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DE38C"/>
                </a:solidFill>
                <a:latin typeface="微软雅黑"/>
              </a:rPr>
              <a:t>可持续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6974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D4E8"/>
                </a:solidFill>
                <a:latin typeface="微软雅黑"/>
              </a:rPr>
              <a:t>长期记忆·个性化
越用越懂你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4340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核心闭环：感知  →  认知  →  干预  →  再感知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315968"/>
            <a:ext cx="9418320" cy="658368"/>
          </a:xfrm>
          <a:prstGeom prst="rect">
            <a:avLst/>
          </a:prstGeom>
          <a:solidFill>
            <a:srgbClr val="1A0A3A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370832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核心闭环：感知  →  认知  →  干预  →  再感知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1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560320" cy="2560320"/>
          </a:xfrm>
          <a:prstGeom prst="ellipse">
            <a:avLst/>
          </a:prstGeom>
          <a:solidFill>
            <a:srgbClr val="2A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54864" cy="676656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系统总体架构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8EFF"/>
                </a:solidFill>
                <a:latin typeface="微软雅黑"/>
              </a:rPr>
              <a:t>SYSTEM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15568"/>
            <a:ext cx="164592" cy="749808"/>
          </a:xfrm>
          <a:prstGeom prst="rect">
            <a:avLst/>
          </a:prstGeom>
          <a:solidFill>
            <a:srgbClr val="3A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15568"/>
            <a:ext cx="11247120" cy="749808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07008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A8EFF"/>
                </a:solidFill>
                <a:latin typeface="微软雅黑"/>
              </a:rPr>
              <a:t>用户交互层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252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摄像头（视频）+ 麦克风（音频）+ 屏幕/扬声器（数字人呈现）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6537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A8EFF"/>
                </a:solidFill>
                <a:latin typeface="微软雅黑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03120"/>
            <a:ext cx="164592" cy="749808"/>
          </a:xfrm>
          <a:prstGeom prst="rect">
            <a:avLst/>
          </a:prstGeom>
          <a:solidFill>
            <a:srgbClr val="3A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03120"/>
            <a:ext cx="11247120" cy="749808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1945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AC8FF"/>
                </a:solidFill>
                <a:latin typeface="微软雅黑"/>
              </a:rPr>
              <a:t>数据感知层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240279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视觉：MediaPipe FaceMesh（478关键点·AU特征）  |  听觉：FunASR（Paraformer-zh · VAD）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852927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A8EFF"/>
                </a:solidFill>
                <a:latin typeface="微软雅黑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90672"/>
            <a:ext cx="164592" cy="749808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90672"/>
            <a:ext cx="11247120" cy="749808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18211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5CFF"/>
                </a:solidFill>
                <a:latin typeface="微软雅黑"/>
              </a:rPr>
              <a:t>认知决策层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22783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多模态融合引擎  +  Qwen LLM对话  +  RAG心理知识库（ChromaDB）  +  10轮+上下文记忆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8404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A8EFF"/>
                </a:solidFill>
                <a:latin typeface="微软雅黑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78224"/>
            <a:ext cx="164592" cy="749808"/>
          </a:xfrm>
          <a:prstGeom prst="rect">
            <a:avLst/>
          </a:prstGeom>
          <a:solidFill>
            <a:srgbClr val="FFD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078224"/>
            <a:ext cx="11247120" cy="749808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6E"/>
                </a:solidFill>
                <a:latin typeface="微软雅黑"/>
              </a:rPr>
              <a:t>表达驱动层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215384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CosyVoice TTS（流式）  +  口型/表情/动作驱动  +  Live2D / VRM 3D 实时渲染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8280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A8EFF"/>
                </a:solidFill>
                <a:latin typeface="微软雅黑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065776"/>
            <a:ext cx="164592" cy="749808"/>
          </a:xfrm>
          <a:prstGeom prst="rect">
            <a:avLst/>
          </a:prstGeom>
          <a:solidFill>
            <a:srgbClr val="3DE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065776"/>
            <a:ext cx="11247120" cy="749808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15721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E38C"/>
                </a:solidFill>
                <a:latin typeface="微软雅黑"/>
              </a:rPr>
              <a:t>数据层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5202936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SQLite用户档案  +  ChromaDB向量库  +  会话历史缓存  +  数字人资产库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1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560320" cy="2560320"/>
          </a:xfrm>
          <a:prstGeom prst="ellipse">
            <a:avLst/>
          </a:prstGeom>
          <a:solidFill>
            <a:srgbClr val="2A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54864" cy="676656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核心技术 · 多模态感知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8EFF"/>
                </a:solidFill>
                <a:latin typeface="微软雅黑"/>
              </a:rPr>
              <a:t>MULTIMODAL PERCEPTION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577840" cy="530352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5577840" cy="502920"/>
          </a:xfrm>
          <a:prstGeom prst="rect">
            <a:avLst/>
          </a:prstGeom>
          <a:solidFill>
            <a:srgbClr val="3A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81028"/>
                </a:solidFill>
                <a:latin typeface="微软雅黑"/>
              </a:rPr>
              <a:t>👁  视觉感知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4E8"/>
                </a:solidFill>
                <a:latin typeface="微软雅黑"/>
              </a:rPr>
              <a:t>▸  MediaPipe FaceMesh：478个面部关键点实时检测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4E8"/>
                </a:solidFill>
                <a:latin typeface="微软雅黑"/>
              </a:rPr>
              <a:t>▸  提取15维AU（面部动作单元）情绪特征向量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661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4E8"/>
                </a:solidFill>
                <a:latin typeface="微软雅黑"/>
              </a:rPr>
              <a:t>▸  WebSocket 15fps 毫秒级实时传输后端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348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4E8"/>
                </a:solidFill>
                <a:latin typeface="微软雅黑"/>
              </a:rPr>
              <a:t>▸  自研FaceBehaviorModel：情绪→数字人驱动参数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143000"/>
            <a:ext cx="5577840" cy="5303520"/>
          </a:xfrm>
          <a:prstGeom prst="rect">
            <a:avLst/>
          </a:prstGeom>
          <a:solidFill>
            <a:srgbClr val="121E42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143000"/>
            <a:ext cx="5577840" cy="50292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188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81028"/>
                </a:solidFill>
                <a:latin typeface="微软雅黑"/>
              </a:rPr>
              <a:t>🎙  听觉感知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8288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4E8"/>
                </a:solidFill>
                <a:latin typeface="微软雅黑"/>
              </a:rPr>
              <a:t>▸  FunASR Paraformer-zh：中文端到端语音识别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97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4E8"/>
                </a:solidFill>
                <a:latin typeface="微软雅黑"/>
              </a:rPr>
              <a:t>▸  FSMN-VAD：精准语音活动检测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5661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4E8"/>
                </a:solidFill>
                <a:latin typeface="微软雅黑"/>
              </a:rPr>
              <a:t>▸  CT-Punc：标点符号自动恢复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4348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4E8"/>
                </a:solidFill>
                <a:latin typeface="微软雅黑"/>
              </a:rPr>
              <a:t>▸  WER ≤ 10%  |  SER ≤ 40%  达标赛题指标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1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560320" cy="2560320"/>
          </a:xfrm>
          <a:prstGeom prst="ellipse">
            <a:avLst/>
          </a:prstGeom>
          <a:solidFill>
            <a:srgbClr val="2A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54864" cy="676656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核心技术 · LLM + RAG 情感对话引擎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8EFF"/>
                </a:solidFill>
                <a:latin typeface="微软雅黑"/>
              </a:rPr>
              <a:t>DIALOGUE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560320" cy="123444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用户语音/文字输入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5544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A8EF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188720"/>
            <a:ext cx="2560320" cy="1234440"/>
          </a:xfrm>
          <a:prstGeom prst="rect">
            <a:avLst/>
          </a:prstGeom>
          <a:solidFill>
            <a:srgbClr val="121E42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32588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RAG心理知识库检索
（ChromaDB向量）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5544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A8EF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2560320" cy="1234440"/>
          </a:xfrm>
          <a:prstGeom prst="rect">
            <a:avLst/>
          </a:prstGeom>
          <a:solidFill>
            <a:srgbClr val="121E42"/>
          </a:solidFill>
          <a:ln w="12700">
            <a:solidFill>
              <a:srgbClr val="FFD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32588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Qwen大语言模型
（8K+上下文）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15544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A8EF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188720"/>
            <a:ext cx="2560320" cy="1234440"/>
          </a:xfrm>
          <a:prstGeom prst="rect">
            <a:avLst/>
          </a:prstGeom>
          <a:solidFill>
            <a:srgbClr val="121E42"/>
          </a:solidFill>
          <a:ln w="12700">
            <a:solidFill>
              <a:srgbClr val="3DE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325880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数字人回复生成
+TTS语音输出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51760"/>
            <a:ext cx="5577840" cy="123444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651760"/>
            <a:ext cx="54864" cy="123444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743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🧠  Qwen大语言模型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1546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通义千问API，8K+上下文窗口，支持联网搜索增强，情感对话生成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651760"/>
            <a:ext cx="5577840" cy="123444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651760"/>
            <a:ext cx="54864" cy="123444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743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📚  RAG心理知识库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1546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ChromaDB向量检索，覆盖焦虑·抑郁·双向情感障碍等专业心理知识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69080"/>
            <a:ext cx="5577840" cy="123444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069080"/>
            <a:ext cx="54864" cy="123444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60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💾  长期上下文记忆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720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10轮以上连续对话，会话摘要+记忆检索，个性化持续陪护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069080"/>
            <a:ext cx="5577840" cy="123444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069080"/>
            <a:ext cx="54864" cy="123444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160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🛡  专业知识兜底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5720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RAG无结果时动态启用LLM联网搜索，确保回复的专业性与安全性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1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560320" cy="2560320"/>
          </a:xfrm>
          <a:prstGeom prst="ellipse">
            <a:avLst/>
          </a:prstGeom>
          <a:solidFill>
            <a:srgbClr val="2A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54864" cy="676656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核心技术 · 虚拟数字人表达与驱动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8EFF"/>
                </a:solidFill>
                <a:latin typeface="微软雅黑"/>
              </a:rPr>
              <a:t>DIGITAL HUMAN EXPRESSION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49039" cy="525780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3749039" cy="457200"/>
          </a:xfrm>
          <a:prstGeom prst="rect">
            <a:avLst/>
          </a:prstGeom>
          <a:solidFill>
            <a:srgbClr val="3A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795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81028"/>
                </a:solidFill>
                <a:latin typeface="微软雅黑"/>
              </a:rPr>
              <a:t>2D 数字人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Live2D Cubism SDK + pixi-live2d-display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PixiJS 图形渲染底层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PARAM_* 参数实时驱动表情/动作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177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端坐静止姿势·禁用自动Idle防抖动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143000"/>
            <a:ext cx="3749039" cy="5257800"/>
          </a:xfrm>
          <a:prstGeom prst="rect">
            <a:avLst/>
          </a:prstGeom>
          <a:solidFill>
            <a:srgbClr val="121E42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143000"/>
            <a:ext cx="3749039" cy="45720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1795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81028"/>
                </a:solidFill>
                <a:latin typeface="微软雅黑"/>
              </a:rPr>
              <a:t>3D 数字人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7373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Three.js r150 + @pixiv/three-vrm 2.x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6974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VRM 标准三维人形模型格式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6576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BlendShape 驱动面部表情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6177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GLTF 模型嘴部动画实时驱动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143000"/>
            <a:ext cx="3749039" cy="5257800"/>
          </a:xfrm>
          <a:prstGeom prst="rect">
            <a:avLst/>
          </a:prstGeom>
          <a:solidFill>
            <a:srgbClr val="121E42"/>
          </a:solidFill>
          <a:ln w="12700">
            <a:solidFill>
              <a:srgbClr val="FFD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143000"/>
            <a:ext cx="3749039" cy="457200"/>
          </a:xfrm>
          <a:prstGeom prst="rect">
            <a:avLst/>
          </a:prstGeom>
          <a:solidFill>
            <a:srgbClr val="FFD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11795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81028"/>
                </a:solidFill>
                <a:latin typeface="微软雅黑"/>
              </a:rPr>
              <a:t>TTS 语音合成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73736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CosyVoice 阿里开源神经TTS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6974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流式首包输出，降低感知延迟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6576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音素边界驱动口型同步（Lip-sync）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6177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Web Speech API 浏览器端备用方案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1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560320" cy="2560320"/>
          </a:xfrm>
          <a:prstGeom prst="ellipse">
            <a:avLst/>
          </a:prstGeom>
          <a:solidFill>
            <a:srgbClr val="2A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54864" cy="676656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功能演示与系统亮点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8EFF"/>
                </a:solidFill>
                <a:latin typeface="微软雅黑"/>
              </a:rPr>
              <a:t>FEATURE HIGHLIGHTS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577840" cy="233172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5394960" cy="141732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46699"/>
                </a:solidFill>
                <a:latin typeface="微软雅黑"/>
              </a:rPr>
              <a:t>[ 截图占位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157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💬 主对话界面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63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4E8"/>
                </a:solidFill>
                <a:latin typeface="微软雅黑"/>
              </a:rPr>
              <a:t>数字人+历史对话侧边栏
用户登录·会话持久化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143000"/>
            <a:ext cx="5577840" cy="233172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234440"/>
            <a:ext cx="5394960" cy="141732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459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46699"/>
                </a:solidFill>
                <a:latin typeface="微软雅黑"/>
              </a:rPr>
              <a:t>[ 截图占位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157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👁 视觉监控界面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063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4E8"/>
                </a:solidFill>
                <a:latin typeface="微软雅黑"/>
              </a:rPr>
              <a:t>AU数据实时变化展示
MediaPipe人脸追踪状态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03320"/>
            <a:ext cx="5577840" cy="233172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59"/>
            <a:ext cx="5394960" cy="141732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46699"/>
                </a:solidFill>
                <a:latin typeface="微软雅黑"/>
              </a:rPr>
              <a:t>[ 截图占位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2760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📚 心理知识库管理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623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4E8"/>
                </a:solidFill>
                <a:latin typeface="微软雅黑"/>
              </a:rPr>
              <a:t>ChromaDB知识条目可视化
支持实时查询与检索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703320"/>
            <a:ext cx="5577840" cy="233172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794759"/>
            <a:ext cx="5394960" cy="141732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2062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46699"/>
                </a:solidFill>
                <a:latin typeface="微软雅黑"/>
              </a:rPr>
              <a:t>[ 截图占位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2760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📊 WER/SER评测界面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623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4E8"/>
                </a:solidFill>
                <a:latin typeface="微软雅黑"/>
              </a:rPr>
              <a:t>词错率/句错率联合评测
达标赛题全部指标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1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560320" cy="2560320"/>
          </a:xfrm>
          <a:prstGeom prst="ellipse">
            <a:avLst/>
          </a:prstGeom>
          <a:solidFill>
            <a:srgbClr val="2A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54864" cy="676656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技术指标达成情况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8EFF"/>
                </a:solidFill>
                <a:latin typeface="微软雅黑"/>
              </a:rPr>
              <a:t>TECHNICAL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59436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指  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188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要  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实测结果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188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状  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11247120" cy="804672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783080"/>
            <a:ext cx="73152" cy="804672"/>
          </a:xfrm>
          <a:prstGeom prst="rect">
            <a:avLst/>
          </a:prstGeom>
          <a:solidFill>
            <a:srgbClr val="3A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4767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WER 词错率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9476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D4E8"/>
                </a:solidFill>
                <a:latin typeface="微软雅黑"/>
              </a:rPr>
              <a:t>≤ 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4767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D4E8"/>
                </a:solidFill>
                <a:latin typeface="微软雅黑"/>
              </a:rPr>
              <a:t>~8%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94767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DE38C"/>
                </a:solidFill>
                <a:latin typeface="微软雅黑"/>
              </a:rPr>
              <a:t>✅ 达标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79191"/>
            <a:ext cx="11247120" cy="804672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679191"/>
            <a:ext cx="73152" cy="804672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843784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SER 句错率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84378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D4E8"/>
                </a:solidFill>
                <a:latin typeface="微软雅黑"/>
              </a:rPr>
              <a:t>≤ 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43784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D4E8"/>
                </a:solidFill>
                <a:latin typeface="微软雅黑"/>
              </a:rPr>
              <a:t>~15%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84378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DE38C"/>
                </a:solidFill>
                <a:latin typeface="微软雅黑"/>
              </a:rPr>
              <a:t>✅ 达标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75304"/>
            <a:ext cx="11247120" cy="804672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575304"/>
            <a:ext cx="73152" cy="804672"/>
          </a:xfrm>
          <a:prstGeom prst="rect">
            <a:avLst/>
          </a:prstGeom>
          <a:solidFill>
            <a:srgbClr val="3DE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739896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连续对话轮次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739896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D4E8"/>
                </a:solidFill>
                <a:latin typeface="微软雅黑"/>
              </a:rPr>
              <a:t>≥ 10轮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73989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D4E8"/>
                </a:solidFill>
                <a:latin typeface="微软雅黑"/>
              </a:rPr>
              <a:t>10轮+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739896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DE38C"/>
                </a:solidFill>
                <a:latin typeface="微软雅黑"/>
              </a:rPr>
              <a:t>✅ 达标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471416"/>
            <a:ext cx="11247120" cy="804672"/>
          </a:xfrm>
          <a:prstGeom prst="rect">
            <a:avLst/>
          </a:prstGeom>
          <a:solidFill>
            <a:srgbClr val="0E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471416"/>
            <a:ext cx="73152" cy="804672"/>
          </a:xfrm>
          <a:prstGeom prst="rect">
            <a:avLst/>
          </a:prstGeom>
          <a:solidFill>
            <a:srgbClr val="FFD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636007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LLM上下文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4636007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D4E8"/>
                </a:solidFill>
                <a:latin typeface="微软雅黑"/>
              </a:rPr>
              <a:t>≥ 8K tokens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636007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D4E8"/>
                </a:solidFill>
                <a:latin typeface="微软雅黑"/>
              </a:rPr>
              <a:t>8K+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636007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DE38C"/>
                </a:solidFill>
                <a:latin typeface="微软雅黑"/>
              </a:rPr>
              <a:t>✅ 达标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367528"/>
            <a:ext cx="11247120" cy="804672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367528"/>
            <a:ext cx="73152" cy="804672"/>
          </a:xfrm>
          <a:prstGeom prst="rect">
            <a:avLst/>
          </a:prstGeom>
          <a:solidFill>
            <a:srgbClr val="F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5321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</a:rPr>
              <a:t>端到端响应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553212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D4E8"/>
                </a:solidFill>
                <a:latin typeface="微软雅黑"/>
              </a:rPr>
              <a:t>≤ 60秒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53212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D4E8"/>
                </a:solidFill>
                <a:latin typeface="微软雅黑"/>
              </a:rPr>
              <a:t>~30秒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553212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DE38C"/>
                </a:solidFill>
                <a:latin typeface="微软雅黑"/>
              </a:rPr>
              <a:t>✅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1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560320" cy="2560320"/>
          </a:xfrm>
          <a:prstGeom prst="ellipse">
            <a:avLst/>
          </a:prstGeom>
          <a:solidFill>
            <a:srgbClr val="2A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54864" cy="676656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应用场景与商业价值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8EFF"/>
                </a:solidFill>
                <a:latin typeface="微软雅黑"/>
              </a:rPr>
              <a:t>SCENARIOS &amp; BUSINESS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3566160" cy="3200400"/>
          </a:xfrm>
          <a:prstGeom prst="rect">
            <a:avLst/>
          </a:prstGeom>
          <a:solidFill>
            <a:srgbClr val="121E42"/>
          </a:solidFill>
          <a:ln w="12700">
            <a:solidFill>
              <a:srgbClr val="3A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3566160" cy="109728"/>
          </a:xfrm>
          <a:prstGeom prst="rect">
            <a:avLst/>
          </a:prstGeom>
          <a:solidFill>
            <a:srgbClr val="3A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A8EFF"/>
                </a:solidFill>
                <a:latin typeface="微软雅黑"/>
              </a:rPr>
              <a:t>🏠 居家老人
日常情感陪伴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4E8"/>
                </a:solidFill>
                <a:latin typeface="微软雅黑"/>
              </a:rPr>
              <a:t>家庭智能终端接入
7×24小时温暖陪伴
主动感知情绪波动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3566160" cy="3200400"/>
          </a:xfrm>
          <a:prstGeom prst="rect">
            <a:avLst/>
          </a:prstGeom>
          <a:solidFill>
            <a:srgbClr val="121E42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143000"/>
            <a:ext cx="3566160" cy="109728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280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B5CFF"/>
                </a:solidFill>
                <a:latin typeface="微软雅黑"/>
              </a:rPr>
              <a:t>🏥 养老机构
辅助护理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402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4E8"/>
                </a:solidFill>
                <a:latin typeface="微软雅黑"/>
              </a:rPr>
              <a:t>替代部分人工陪护工作
扩大服务覆盖面
降低机构运营成本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143000"/>
            <a:ext cx="3566160" cy="3200400"/>
          </a:xfrm>
          <a:prstGeom prst="rect">
            <a:avLst/>
          </a:prstGeom>
          <a:solidFill>
            <a:srgbClr val="121E42"/>
          </a:solidFill>
          <a:ln w="12700">
            <a:solidFill>
              <a:srgbClr val="FFD7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143000"/>
            <a:ext cx="3566160" cy="109728"/>
          </a:xfrm>
          <a:prstGeom prst="rect">
            <a:avLst/>
          </a:prstGeom>
          <a:solidFill>
            <a:srgbClr val="FFD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280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D76E"/>
                </a:solidFill>
                <a:latin typeface="微软雅黑"/>
              </a:rPr>
              <a:t>⚠️ 心理健康
预警监测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402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4E8"/>
                </a:solidFill>
                <a:latin typeface="微软雅黑"/>
              </a:rPr>
              <a:t>异常情绪实时预警
通知家属/医护人员
焦虑抑郁早发现早干预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26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市场规模：中国养老服务市场规模突破 10 万亿元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20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4E8"/>
                </a:solidFill>
                <a:latin typeface="微软雅黑"/>
              </a:rPr>
              <a:t>盈利模式：B端（机构授权）+ C端（家庭订阅）+ G端（政府采购）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1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560320" cy="2560320"/>
          </a:xfrm>
          <a:prstGeom prst="ellipse">
            <a:avLst/>
          </a:prstGeom>
          <a:solidFill>
            <a:srgbClr val="2A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54864" cy="676656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可行性分析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8EFF"/>
                </a:solidFill>
                <a:latin typeface="微软雅黑"/>
              </a:rPr>
              <a:t>FEASIBILITY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A8EFF"/>
                </a:solidFill>
                <a:latin typeface="微软雅黑"/>
              </a:rPr>
              <a:t>可行性亮点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5394960" cy="114300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64008" cy="1143000"/>
          </a:xfrm>
          <a:prstGeom prst="rect">
            <a:avLst/>
          </a:prstGeom>
          <a:solidFill>
            <a:srgbClr val="3DE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✅ 技术成熟可复现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1762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FunASR/Qwen/MediaPipe均为成熟方案，已完成原型系统联调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5394960" cy="114300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64008" cy="1143000"/>
          </a:xfrm>
          <a:prstGeom prst="rect">
            <a:avLst/>
          </a:prstGeom>
          <a:solidFill>
            <a:srgbClr val="3DE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63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✅ 低门槛部署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021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普通PC+摄像头即可运行，浏览器访问无需额外客户端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5394960" cy="114300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97680"/>
            <a:ext cx="64008" cy="1143000"/>
          </a:xfrm>
          <a:prstGeom prst="rect">
            <a:avLst/>
          </a:prstGeom>
          <a:solidFill>
            <a:srgbClr val="3DE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389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✅ 指标全面达标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280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WER/SER/连续对话/响应时间5项赛题指标均已达标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097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76E"/>
                </a:solidFill>
                <a:latin typeface="微软雅黑"/>
              </a:rPr>
              <a:t>风险应对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645920"/>
            <a:ext cx="5394960" cy="114300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645920"/>
            <a:ext cx="64008" cy="1143000"/>
          </a:xfrm>
          <a:prstGeom prst="rect">
            <a:avLst/>
          </a:prstGeom>
          <a:solidFill>
            <a:srgbClr val="FFD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1737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⚡ 隐私安全风险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21762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提供本地部署选项，音视频数据不上云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971800"/>
            <a:ext cx="5394960" cy="114300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2971800"/>
            <a:ext cx="64008" cy="1143000"/>
          </a:xfrm>
          <a:prstGeom prst="rect">
            <a:avLst/>
          </a:prstGeom>
          <a:solidFill>
            <a:srgbClr val="FFD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3063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⚡ 使用门槛风险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35021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极简UI设计，语音优先交互，适老化改造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297680"/>
            <a:ext cx="5394960" cy="114300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297680"/>
            <a:ext cx="64008" cy="1143000"/>
          </a:xfrm>
          <a:prstGeom prst="rect">
            <a:avLst/>
          </a:prstGeom>
          <a:solidFill>
            <a:srgbClr val="FFD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4389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⚡ 模型幻觉风险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48280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RAG知识库兜底，专业心理内容审核过滤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1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560320" cy="2560320"/>
          </a:xfrm>
          <a:prstGeom prst="ellipse">
            <a:avLst/>
          </a:prstGeom>
          <a:solidFill>
            <a:srgbClr val="2A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54864" cy="676656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团队介绍与分工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8EFF"/>
                </a:solidFill>
                <a:latin typeface="微软雅黑"/>
              </a:rPr>
              <a:t>TEAM 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3566160" cy="2240280"/>
          </a:xfrm>
          <a:prstGeom prst="rect">
            <a:avLst/>
          </a:prstGeom>
          <a:solidFill>
            <a:srgbClr val="121E42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3566160" cy="457200"/>
          </a:xfrm>
          <a:prstGeom prst="rect">
            <a:avLst/>
          </a:prstGeom>
          <a:solidFill>
            <a:srgbClr val="25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1887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5CFF"/>
                </a:solidFill>
                <a:latin typeface="微软雅黑"/>
              </a:rPr>
              <a:t>🤖 AI算法/后端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6916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76E"/>
                </a:solidFill>
                <a:latin typeface="微软雅黑"/>
              </a:rPr>
              <a:t>姓名：___（占位）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103120"/>
            <a:ext cx="3383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LLM对话引擎
RAG知识库
多模态融合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143000"/>
            <a:ext cx="3566160" cy="2240280"/>
          </a:xfrm>
          <a:prstGeom prst="rect">
            <a:avLst/>
          </a:prstGeom>
          <a:solidFill>
            <a:srgbClr val="121E42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143000"/>
            <a:ext cx="3566160" cy="457200"/>
          </a:xfrm>
          <a:prstGeom prst="rect">
            <a:avLst/>
          </a:prstGeom>
          <a:solidFill>
            <a:srgbClr val="25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1887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5CFF"/>
                </a:solidFill>
                <a:latin typeface="微软雅黑"/>
              </a:rPr>
              <a:t>🎙 语音方向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6916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76E"/>
                </a:solidFill>
                <a:latin typeface="微软雅黑"/>
              </a:rPr>
              <a:t>姓名：___（占位）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103120"/>
            <a:ext cx="3383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FunASR集成优化
TTS语音合成
WER/SER评测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143000"/>
            <a:ext cx="3566160" cy="2240280"/>
          </a:xfrm>
          <a:prstGeom prst="rect">
            <a:avLst/>
          </a:prstGeom>
          <a:solidFill>
            <a:srgbClr val="121E42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143000"/>
            <a:ext cx="3566160" cy="457200"/>
          </a:xfrm>
          <a:prstGeom prst="rect">
            <a:avLst/>
          </a:prstGeom>
          <a:solidFill>
            <a:srgbClr val="25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1887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5CFF"/>
                </a:solidFill>
                <a:latin typeface="微软雅黑"/>
              </a:rPr>
              <a:t>👁 视觉方向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6916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76E"/>
                </a:solidFill>
                <a:latin typeface="微软雅黑"/>
              </a:rPr>
              <a:t>姓名：___（占位）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103120"/>
            <a:ext cx="3383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MediaPipe感知
面部驱动模型
AU特征提取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3611880"/>
            <a:ext cx="3566160" cy="2240280"/>
          </a:xfrm>
          <a:prstGeom prst="rect">
            <a:avLst/>
          </a:prstGeom>
          <a:solidFill>
            <a:srgbClr val="121E42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65960" y="3611880"/>
            <a:ext cx="3566160" cy="457200"/>
          </a:xfrm>
          <a:prstGeom prst="rect">
            <a:avLst/>
          </a:prstGeom>
          <a:solidFill>
            <a:srgbClr val="25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20" y="365760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5CFF"/>
                </a:solidFill>
                <a:latin typeface="微软雅黑"/>
              </a:rPr>
              <a:t>🎨 前端/数字人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1605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76E"/>
                </a:solidFill>
                <a:latin typeface="微软雅黑"/>
              </a:rPr>
              <a:t>姓名：___（占位）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572000"/>
            <a:ext cx="3383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Vue3前端
Live2D/VRM渲染
口型动作同步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97879" y="3611880"/>
            <a:ext cx="3566160" cy="2240280"/>
          </a:xfrm>
          <a:prstGeom prst="rect">
            <a:avLst/>
          </a:prstGeom>
          <a:solidFill>
            <a:srgbClr val="121E42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97879" y="3611880"/>
            <a:ext cx="3566160" cy="457200"/>
          </a:xfrm>
          <a:prstGeom prst="rect">
            <a:avLst/>
          </a:prstGeom>
          <a:solidFill>
            <a:srgbClr val="25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365760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5CFF"/>
                </a:solidFill>
                <a:latin typeface="微软雅黑"/>
              </a:rPr>
              <a:t>📋 产品/文档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1605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76E"/>
                </a:solidFill>
                <a:latin typeface="微软雅黑"/>
              </a:rPr>
              <a:t>姓名：___（占位）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572000"/>
            <a:ext cx="3383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4E8"/>
                </a:solidFill>
                <a:latin typeface="微软雅黑"/>
              </a:rPr>
              <a:t>需求分析
文档体系
PPT设计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88BB"/>
                </a:solidFill>
                <a:latin typeface="微软雅黑"/>
              </a:rPr>
              <a:t>指导教师：_________（占位）  |  学校：江苏大学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1A0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-457200"/>
            <a:ext cx="2560320" cy="2560320"/>
          </a:xfrm>
          <a:prstGeom prst="ellipse">
            <a:avLst/>
          </a:prstGeom>
          <a:solidFill>
            <a:srgbClr val="2A1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64592"/>
            <a:ext cx="54864" cy="676656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总结与展望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A8EFF"/>
                </a:solidFill>
                <a:latin typeface="微软雅黑"/>
              </a:rPr>
              <a:t>SUMMARY &amp; OUTLOOK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6E"/>
                </a:solidFill>
                <a:latin typeface="微软雅黑"/>
              </a:rPr>
              <a:t>数智心伴  ——  构建有温度的 AI 数字人情感陪护闭环系统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E38C"/>
                </a:solidFill>
                <a:latin typeface="微软雅黑"/>
              </a:rPr>
              <a:t>✅  已实现（当前版本）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多模态感知：MediaPipe视觉 + FunASR听觉实时采集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6440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LLM对话引擎：Qwen + RAG心理知识库专业对话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14215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数字人渲染：2D Live2D / 3D VRM双模高表现力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6402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全指标达标：WER/SER/响应时间/连续对话均通过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A8EFF"/>
                </a:solidFill>
                <a:latin typeface="微软雅黑"/>
              </a:rPr>
              <a:t>🚀  未来规划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接入PHQ-9/GAD-7等心理评估量表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6440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支持移动端（小程序/App）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14215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融合智能穿戴设备（心率/睡眠）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6402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4E8"/>
                </a:solidFill>
                <a:latin typeface="微软雅黑"/>
              </a:rPr>
              <a:t>▸  探索 AI + 人工 混合陪护模式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943600"/>
            <a:ext cx="11247120" cy="685800"/>
          </a:xfrm>
          <a:prstGeom prst="rect">
            <a:avLst/>
          </a:prstGeom>
          <a:solidFill>
            <a:srgbClr val="12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感谢评审老师的宝贵时间  |  数智心伴团队  敬上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